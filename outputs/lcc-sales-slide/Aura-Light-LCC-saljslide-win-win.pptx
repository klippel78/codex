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ead9e5b479724b0e" Type="http://schemas.openxmlformats.org/officeDocument/2006/relationships/extended-properties" Target="/docProps/app.xml"/><Relationship Id="Rf735dcdb4929426b" Type="http://schemas.openxmlformats.org/package/2006/relationships/metadata/core-properties" Target="/docProps/core.xml"/><Relationship Id="rId1" Type="http://schemas.openxmlformats.org/officeDocument/2006/relationships/custom-properties" Target="docProps/custom.xml"/><Relationship Id="R6e93aec761464650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338c9f5d64b53"/>
  </p:sldMasterIdLst>
  <p:notesMasterIdLst>
    <p:notesMasterId xmlns:r="http://schemas.openxmlformats.org/officeDocument/2006/relationships" r:id="Rc1318a4bb3f24afe"/>
  </p:notesMasterIdLst>
  <p:sldIdLst>
    <p:sldId xmlns:r="http://schemas.openxmlformats.org/officeDocument/2006/relationships" id="256" r:id="R752b0c29e4084c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31d6916af11242d9" Type="http://schemas.openxmlformats.org/officeDocument/2006/relationships/presProps" Target="/ppt/presProps.xml"/><Relationship Id="Rc45a29c365c0483a" Type="http://schemas.openxmlformats.org/officeDocument/2006/relationships/tableStyles" Target="/ppt/tableStyles.xml"/><Relationship Id="rId3" Type="http://schemas.openxmlformats.org/officeDocument/2006/relationships/customXml" Target="../customXml/item3.xml"/><Relationship Id="R75b338c9f5d64b53" Type="http://schemas.openxmlformats.org/officeDocument/2006/relationships/slideMaster" Target="/ppt/slideMasters/slideMaster1.xml"/><Relationship Id="rId2" Type="http://schemas.openxmlformats.org/officeDocument/2006/relationships/customXml" Target="../customXml/item2.xml"/><Relationship Id="R4baf1716b8814b0d" Type="http://schemas.openxmlformats.org/officeDocument/2006/relationships/theme" Target="/ppt/theme/theme1.xml"/><Relationship Id="Rc1318a4bb3f24afe" Type="http://schemas.openxmlformats.org/officeDocument/2006/relationships/notesMaster" Target="/ppt/notesMasters/notesMaster1.xml"/><Relationship Id="R8b861714906944a8" Type="http://schemas.openxmlformats.org/officeDocument/2006/relationships/viewProps" Target="/ppt/viewProps.xml"/><Relationship Id="rId1" Type="http://schemas.openxmlformats.org/officeDocument/2006/relationships/customXml" Target="../customXml/item1.xml"/><Relationship Id="R752b0c29e4084c27" Type="http://schemas.openxmlformats.org/officeDocument/2006/relationships/slide" Target="/ppt/slides/slide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9cb59bf02040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Aura Light LCC">
  <a:themeElements>
    <a:clrScheme name="Aura Light LCC">
      <a:accent1>
        <a:srgbClr val="00656C"/>
      </a:accent1>
      <a:accent2>
        <a:srgbClr val="95C11F"/>
      </a:accent2>
      <a:accent3>
        <a:srgbClr val="C6DBCB"/>
      </a:accent3>
      <a:accent4>
        <a:srgbClr val="C2D3D6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Light LCC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f73297807e4524" /><Relationship Type="http://schemas.openxmlformats.org/officeDocument/2006/relationships/notesMaster" Target="/ppt/notesMasters/notesMaster1.xml" Id="R2786c23d3d8a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Poäng: börja med att ramen är positiv, inte defensiv. Det här är inte bara en kostnadsreduktion, utan ett sätt att göra rätt sak utan att be om en budgetuppoffring.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Nyckelbudskap: LCC-rapporten visar ett tydligt win-win-läge: lägre livscykelkostnad, lägre energianvändning och lägre klimatavtryck. Lägg sedan till de mjuka värdena: bättre upplevd miljö, smartare styrning och mindre driftstress.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Siffror från aktuell LCC-sammanfattning: 685 573 kr, 19 757 kWh, 395 kg CO2-e.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30318974743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58C0F2C-931A-425E-B270-056A1A81131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3E4606A-AA53-4AEF-BCAD-DF7DBE4877F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55CCD9-5404-4D61-9B22-2D77B696ADA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B9960A-9576-4E78-955A-BD07F02DB96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0B4604-069B-46C6-A700-CE31BC06F82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b191e5421154e3a" /><Relationship Type="http://schemas.openxmlformats.org/officeDocument/2006/relationships/slideLayout" Target="/ppt/slideLayouts/slideLayout2.xml" Id="R2d04661f88714c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562F37-7FD2-4C5B-BDE4-100CDD99454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04661f88714c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56b59ad9254de3" /><Relationship Type="http://schemas.openxmlformats.org/officeDocument/2006/relationships/image" Target="/ppt/media/image.png" Id="R9d74a4cd614c434a" /><Relationship Type="http://schemas.openxmlformats.org/officeDocument/2006/relationships/notesSlide" Target="/ppt/notesSlides/notesSlide1.xml" Id="Ra57390135a3e40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0B4604-069B-46C6-A700-CE31BC06F8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4a4cd614c434a"/>
          <a:srcRect xmlns:a="http://schemas.openxmlformats.org/drawingml/2006/main" l="9417" t="0" r="9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C2E57-B2E0-46DB-9D21-D80330B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952E0-53AA-4E4B-900A-37FD6AAF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142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282F2-BACA-47B8-B515-A51102FA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D0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4BA14-3133-4C6A-BFDC-FF54B91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B8D7F-F997-4D5D-A1C2-478D6667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609600" y="400050"/>
            <a:ext cx="20002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C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1359-17D8-4953-B4BC-B8490FF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838200" y="590550"/>
            <a:ext cx="2000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C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8B5CA-5F9C-4A77-A734-AC415ED2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33"/>
                </a:solidFill>
              </a:defRPr>
            </a:pPr>
            <a:r>
              <a:rPr sz="1800" b="0">
                <a:solidFill>
                  <a:srgbClr val="102A33"/>
                </a:solidFill>
              </a:rPr>
              <a:t>AURA 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B7943-C4EC-407E-881A-49CE620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143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2E569-4355-4805-BED6-FD4F467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2838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656C"/>
                </a:solidFill>
              </a:defRPr>
            </a:pPr>
            <a:r>
              <a:rPr sz="1125" b="1">
                <a:solidFill>
                  <a:srgbClr val="00656C"/>
                </a:solidFill>
              </a:rPr>
              <a:t>LCC som både CFO:n och klimatet gillar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70824-6E68-48CE-B717-C29AAF4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2A33"/>
                </a:solidFill>
              </a:defRPr>
            </a:pPr>
            <a:r>
              <a:rPr sz="4650" b="1">
                <a:solidFill>
                  <a:srgbClr val="102A33"/>
                </a:solidFill>
              </a:rPr>
              <a:t>Gör gott.</a:t>
            </a:r>
          </a:p>
          <a:p xmlns:a="http://schemas.openxmlformats.org/drawingml/2006/main">
            <a:pPr algn="l">
              <a:defRPr sz="4650" b="1">
                <a:solidFill>
                  <a:srgbClr val="102A33"/>
                </a:solidFill>
              </a:defRPr>
            </a:pPr>
            <a:r>
              <a:rPr sz="4650" b="1">
                <a:solidFill>
                  <a:srgbClr val="102A33"/>
                </a:solidFill>
              </a:rPr>
              <a:t>Gå plus.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48244-ED2B-4947-82F0-A2E58D2B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628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33"/>
                </a:solidFill>
              </a:defRPr>
            </a:pPr>
            <a:r>
              <a:rPr sz="1500" b="0">
                <a:solidFill>
                  <a:srgbClr val="102A33"/>
                </a:solidFill>
              </a:rPr>
              <a:t>Den gamla belysningen gör två saker: den lyser och den läcker pengar. Den nya gör tre: lyser smartare, sänker livscykelkostnaden och minskar klimatavtrycket.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5CDA4-AD62-4E2A-BD27-04EB6106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6DBCB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A1F2A-20EC-4319-96AC-9252154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ADF6F-8366-4404-BAE3-108B3209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33"/>
                </a:solidFill>
              </a:defRPr>
            </a:pPr>
            <a:r>
              <a:rPr sz="2625" b="1">
                <a:solidFill>
                  <a:srgbClr val="102A33"/>
                </a:solidFill>
              </a:rPr>
              <a:t>685 573 kr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EAFE7-92D6-4058-BFB7-27C5183D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56C"/>
                </a:solidFill>
              </a:defRPr>
            </a:pPr>
            <a:r>
              <a:rPr sz="1275" b="1">
                <a:solidFill>
                  <a:srgbClr val="00656C"/>
                </a:solidFill>
              </a:rPr>
              <a:t>lägre LCC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04023-F89A-4AB5-B69B-E68FD2D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36A"/>
                </a:solidFill>
              </a:defRPr>
            </a:pPr>
            <a:r>
              <a:rPr sz="975" b="0">
                <a:solidFill>
                  <a:srgbClr val="51636A"/>
                </a:solidFill>
              </a:rPr>
              <a:t>beräknad besparing över 20 år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BF441-B139-4ADC-85B0-CDEB8EC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2D3D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81CCE-2544-422D-9865-3C05A528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33FA3-80C7-4788-993F-564EDC16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672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33"/>
                </a:solidFill>
              </a:defRPr>
            </a:pPr>
            <a:r>
              <a:rPr sz="2625" b="1">
                <a:solidFill>
                  <a:srgbClr val="102A33"/>
                </a:solidFill>
              </a:rPr>
              <a:t>19 757 kWh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AFBFC-FF5E-4F41-9B67-EE081B5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56C"/>
                </a:solidFill>
              </a:defRPr>
            </a:pPr>
            <a:r>
              <a:rPr sz="1275" b="1">
                <a:solidFill>
                  <a:srgbClr val="00656C"/>
                </a:solidFill>
              </a:rPr>
              <a:t>mindre energi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4A704-C432-4863-935B-72A33F01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96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36A"/>
                </a:solidFill>
              </a:defRPr>
            </a:pPr>
            <a:r>
              <a:rPr sz="975" b="0">
                <a:solidFill>
                  <a:srgbClr val="51636A"/>
                </a:solidFill>
              </a:rPr>
              <a:t>kilowattimmar som slipper köpas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51E9B-DF3D-4476-B723-EF665640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9EFD0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A85AB-637F-402F-9574-2FE49BB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072B7-C8F1-4D55-848F-C06291E9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33"/>
                </a:solidFill>
              </a:defRPr>
            </a:pPr>
            <a:r>
              <a:rPr sz="2625" b="1">
                <a:solidFill>
                  <a:srgbClr val="102A33"/>
                </a:solidFill>
              </a:rPr>
              <a:t>395 kg CO₂-e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C2E05-5FFD-4EF1-963A-6E503354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24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56C"/>
                </a:solidFill>
              </a:defRPr>
            </a:pPr>
            <a:r>
              <a:rPr sz="1275" b="1">
                <a:solidFill>
                  <a:srgbClr val="00656C"/>
                </a:solidFill>
              </a:rPr>
              <a:t>lägre klimatavtryck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4C74C-6042-4860-B109-2884370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96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36A"/>
                </a:solidFill>
              </a:defRPr>
            </a:pPr>
            <a:r>
              <a:rPr sz="975" b="0">
                <a:solidFill>
                  <a:srgbClr val="51636A"/>
                </a:solidFill>
              </a:rPr>
              <a:t>win-win för plånbok och planet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26ACC-DC10-4877-9CBA-E7B19CA5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7486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19050">
            <a:solidFill>
              <a:srgbClr val="C6DB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9FBB2B-7EA6-4F3A-9D80-2EC56AE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FD0"/>
          </a:solidFill>
          <a:ln xmlns:a="http://schemas.openxmlformats.org/drawingml/2006/main" w="13335">
            <a:solidFill>
              <a:srgbClr val="0065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250F8-537F-43D0-94C1-EB869B4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67425"/>
            <a:ext cx="104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D5B974-7913-434F-8664-DE4C5F92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00750"/>
            <a:ext cx="200025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C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C80908-4794-4C84-B0CE-38BC9F2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905500"/>
            <a:ext cx="634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6C"/>
                </a:solidFill>
              </a:defRPr>
            </a:pPr>
            <a:r>
              <a:rPr sz="975" b="1">
                <a:solidFill>
                  <a:srgbClr val="00656C"/>
                </a:solidFill>
              </a:rPr>
              <a:t>MJUKT VÄRDE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252555-0182-4405-B93C-EA329C1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43625"/>
            <a:ext cx="634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3"/>
                </a:solidFill>
              </a:defRPr>
            </a:pPr>
            <a:r>
              <a:rPr sz="1800" b="1">
                <a:solidFill>
                  <a:srgbClr val="102A33"/>
                </a:solidFill>
              </a:rPr>
              <a:t>En vardag som känns bättre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1F7147-73FD-4A8E-AEC2-1D2627DE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24625"/>
            <a:ext cx="626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36A"/>
                </a:solidFill>
              </a:defRPr>
            </a:pPr>
            <a:r>
              <a:rPr sz="1200" b="0">
                <a:solidFill>
                  <a:srgbClr val="51636A"/>
                </a:solidFill>
              </a:rPr>
              <a:t>Rätt ljus när människor är där. Mindre driftstress när rummen står tomma. Och en lösning som signalerar ansvar utan att predika.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45369C-AFFC-4EA2-A762-FEFDDCE1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5770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656C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C9C5A8-B96F-4A2A-B982-7E005CD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8630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Storyn på 10 sekunder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04EC3-11CB-41F3-B6BE-84C2AF3D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38725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88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Varje tomt rum som släcker sig själv är en liten kostnad som aldrig behöver uppstå.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263843-739B-49DF-91C9-2AD5D345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79120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C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D45ACB-C6EC-4C81-9200-EFA343EF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245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EFD0"/>
                </a:solidFill>
              </a:defRPr>
            </a:pPr>
            <a:r>
              <a:rPr sz="1125" b="1">
                <a:solidFill>
                  <a:srgbClr val="E9EFD0"/>
                </a:solidFill>
              </a:rPr>
              <a:t>Aura Light gör besparingen synlig.</a:t>
            </a:r>
          </a:p>
        </p:txBody>
      </p:sp>
    </p:spTree>
    <p:extLst>
      <p:ext uri="{BB962C8B-B14F-4D97-AF65-F5344CB8AC3E}">
        <p14:creationId xmlns:p14="http://schemas.microsoft.com/office/powerpoint/2010/main" val="1399034796"/>
      </p:ext>
    </p:extLst>
  </p:cSld>
</p:sld>
</file>

<file path=ppt/theme/theme1.xml><?xml version="1.0" encoding="utf-8"?>
<a:theme xmlns:a="http://schemas.openxmlformats.org/drawingml/2006/main" name="Aura Light LCC">
  <a:themeElements>
    <a:clrScheme name="Aura Light LCC">
      <a:accent1>
        <a:srgbClr val="00656C"/>
      </a:accent1>
      <a:accent2>
        <a:srgbClr val="95C11F"/>
      </a:accent2>
      <a:accent3>
        <a:srgbClr val="C6DBCB"/>
      </a:accent3>
      <a:accent4>
        <a:srgbClr val="C2D3D6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Light LCC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00836FDFCABFB4F988F1CC218A89D0E" ma:contentTypeVersion="13" ma:contentTypeDescription="Skapa ett nytt dokument." ma:contentTypeScope="" ma:versionID="370370f73dd07b1258ae0b644d3ca6cb">
  <xsd:schema xmlns:xsd="http://www.w3.org/2001/XMLSchema" xmlns:xs="http://www.w3.org/2001/XMLSchema" xmlns:p="http://schemas.microsoft.com/office/2006/metadata/properties" xmlns:ns2="c85e6c78-ad1d-484a-98d1-c7d2326a9a4c" xmlns:ns3="b6853bd2-22b9-4d35-8c33-63a4997c86c0" targetNamespace="http://schemas.microsoft.com/office/2006/metadata/properties" ma:root="true" ma:fieldsID="cf2eb4ee0594c2ba1c12ff7c572898d3" ns2:_="" ns3:_="">
    <xsd:import namespace="c85e6c78-ad1d-484a-98d1-c7d2326a9a4c"/>
    <xsd:import namespace="b6853bd2-22b9-4d35-8c33-63a4997c86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5e6c78-ad1d-484a-98d1-c7d2326a9a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ildmarkeringar" ma:readOnly="false" ma:fieldId="{5cf76f15-5ced-4ddc-b409-7134ff3c332f}" ma:taxonomyMulti="true" ma:sspId="fca21c6a-0e39-422c-b6d5-4f3c7f47ea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53bd2-22b9-4d35-8c33-63a4997c86c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ccdf26c-1956-400c-83cb-7fd62a9e57bc}" ma:internalName="TaxCatchAll" ma:showField="CatchAllData" ma:web="b6853bd2-22b9-4d35-8c33-63a4997c86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5e6c78-ad1d-484a-98d1-c7d2326a9a4c">
      <Terms xmlns="http://schemas.microsoft.com/office/infopath/2007/PartnerControls"/>
    </lcf76f155ced4ddcb4097134ff3c332f>
    <TaxCatchAll xmlns="b6853bd2-22b9-4d35-8c33-63a4997c86c0" xsi:nil="true"/>
  </documentManagement>
</p:properties>
</file>

<file path=customXml/itemProps1.xml><?xml version="1.0" encoding="utf-8"?>
<ds:datastoreItem xmlns:ds="http://schemas.openxmlformats.org/officeDocument/2006/customXml" ds:itemID="{D29A2AA3-08DB-41FF-AB40-458F6A8FBC35}"/>
</file>

<file path=customXml/itemProps2.xml><?xml version="1.0" encoding="utf-8"?>
<ds:datastoreItem xmlns:ds="http://schemas.openxmlformats.org/officeDocument/2006/customXml" ds:itemID="{E316E8AD-54A9-480E-B3F8-0ADEF98D18EB}"/>
</file>

<file path=customXml/itemProps3.xml><?xml version="1.0" encoding="utf-8"?>
<ds:datastoreItem xmlns:ds="http://schemas.openxmlformats.org/officeDocument/2006/customXml" ds:itemID="{B15FA81C-B67E-47B5-8D27-D40CB6069CD8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2026-04-23T15:28:38Z</dcterms:created>
  <dcterms:modified xsi:type="dcterms:W3CDTF">2026-04-23T15:28:38Z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0x010100700836FDFCABFB4F988F1CC218A89D0E</vt:lpwstr>
  </property>
</Properties>
</file>